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5143500" type="screen16x9"/>
  <p:notesSz cx="5143500" cy="9144000"/>
  <p:embeddedFontLst>
    <p:embeddedFont>
      <p:font typeface="Lora" panose="020B0604020202020204" charset="-52"/>
      <p:regular r:id="rId12"/>
    </p:embeddedFont>
    <p:embeddedFont>
      <p:font typeface="Source Sans 3" panose="020B0604020202020204" charset="0"/>
      <p:regular r:id="rId13"/>
    </p:embeddedFont>
    <p:embeddedFont>
      <p:font typeface="Source Sans 3 Bold" panose="020B0604020202020204" charset="0"/>
      <p:regular r:id="rId14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528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30" d="100"/>
          <a:sy n="130" d="100"/>
        </p:scale>
        <p:origin x="82" y="1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457320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81A2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5283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7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svg"/><Relationship Id="rId4" Type="http://schemas.openxmlformats.org/officeDocument/2006/relationships/image" Target="../media/image13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577" y="676945"/>
            <a:ext cx="8096845" cy="8800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Разработка мобильного приложения для прослушивания подкастов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523577" y="1781324"/>
            <a:ext cx="8096845" cy="26852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3000"/>
              </a:lnSpc>
              <a:spcAft>
                <a:spcPts val="1300"/>
              </a:spcAft>
              <a:buNone/>
            </a:pPr>
            <a:r>
              <a:rPr lang="en-US" sz="11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Курсовая работа </a:t>
            </a:r>
            <a:endParaRPr lang="en-US" sz="1150" dirty="0"/>
          </a:p>
          <a:p>
            <a:pPr marL="0" indent="0" algn="l">
              <a:lnSpc>
                <a:spcPct val="133000"/>
              </a:lnSpc>
              <a:spcAft>
                <a:spcPts val="1300"/>
              </a:spcAft>
              <a:buNone/>
            </a:pPr>
            <a:r>
              <a:rPr lang="en-US" sz="11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· МДК 02.01 Технология разработки программного обеспечения</a:t>
            </a:r>
            <a:endParaRPr lang="en-US" sz="1150" dirty="0"/>
          </a:p>
          <a:p>
            <a:pPr marL="0" indent="0" algn="l">
              <a:lnSpc>
                <a:spcPct val="133000"/>
              </a:lnSpc>
              <a:spcAft>
                <a:spcPts val="1300"/>
              </a:spcAft>
              <a:buNone/>
            </a:pPr>
            <a:r>
              <a:rPr lang="en-US" sz="11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Специальность: </a:t>
            </a:r>
            <a:endParaRPr lang="en-US" sz="1150" dirty="0"/>
          </a:p>
          <a:p>
            <a:pPr marL="0" indent="0" algn="l">
              <a:lnSpc>
                <a:spcPct val="133000"/>
              </a:lnSpc>
              <a:spcAft>
                <a:spcPts val="1300"/>
              </a:spcAft>
              <a:buNone/>
            </a:pPr>
            <a:r>
              <a:rPr lang="en-US" sz="11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09.02.07 Информационные системы и программирование</a:t>
            </a:r>
            <a:endParaRPr lang="en-US" sz="11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1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Выполнил: студент гр. 23П-4 </a:t>
            </a:r>
            <a:r>
              <a:rPr lang="en-US" sz="1150" b="1" dirty="0">
                <a:solidFill>
                  <a:srgbClr val="D6E5EF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Файзельгаянов И.Ф.</a:t>
            </a:r>
            <a:endParaRPr lang="en-US" sz="11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1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Руководитель: </a:t>
            </a:r>
            <a:r>
              <a:rPr lang="en-US" sz="1150" b="1" dirty="0">
                <a:solidFill>
                  <a:srgbClr val="D6E5EF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Фатхулова О.В.</a:t>
            </a:r>
            <a:endParaRPr lang="en-US" sz="11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1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Уфа — 2026</a:t>
            </a:r>
            <a:endParaRPr lang="en-US" sz="1150" dirty="0"/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F70979F4-3E38-07CB-B8A2-327F3AC8AF38}"/>
              </a:ext>
            </a:extLst>
          </p:cNvPr>
          <p:cNvSpPr/>
          <p:nvPr/>
        </p:nvSpPr>
        <p:spPr>
          <a:xfrm>
            <a:off x="7954108" y="4690913"/>
            <a:ext cx="1143000" cy="404446"/>
          </a:xfrm>
          <a:prstGeom prst="rect">
            <a:avLst/>
          </a:prstGeom>
          <a:solidFill>
            <a:srgbClr val="252833"/>
          </a:solidFill>
          <a:ln>
            <a:solidFill>
              <a:srgbClr val="25283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577" y="447080"/>
            <a:ext cx="3652168" cy="3644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5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Цель и задачи проекта</a:t>
            </a:r>
            <a:endParaRPr lang="en-US" sz="2250" dirty="0"/>
          </a:p>
        </p:txBody>
      </p:sp>
      <p:sp>
        <p:nvSpPr>
          <p:cNvPr id="3" name="Shape 1"/>
          <p:cNvSpPr/>
          <p:nvPr/>
        </p:nvSpPr>
        <p:spPr>
          <a:xfrm>
            <a:off x="523577" y="1016645"/>
            <a:ext cx="8096845" cy="619125"/>
          </a:xfrm>
          <a:prstGeom prst="roundRect">
            <a:avLst>
              <a:gd name="adj" fmla="val 3002"/>
            </a:avLst>
          </a:prstGeom>
          <a:solidFill>
            <a:srgbClr val="790645"/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402" y="1186904"/>
            <a:ext cx="154856" cy="12382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26083" y="1150144"/>
            <a:ext cx="7570515" cy="3623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Цель:</a:t>
            </a:r>
            <a:r>
              <a:rPr lang="en-US" sz="95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Разработка отказоустойчивой клиент-серверной системы для публикации, поиска и бесперебойного потокового прослушивания аудиоподкастов.</a:t>
            </a:r>
            <a:endParaRPr lang="en-US" sz="9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70012" y="1754981"/>
            <a:ext cx="185812" cy="18581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926157" y="1751186"/>
            <a:ext cx="1457623" cy="182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Анализ</a:t>
            </a:r>
            <a:endParaRPr lang="en-US" sz="1100" dirty="0"/>
          </a:p>
        </p:txBody>
      </p:sp>
      <p:sp>
        <p:nvSpPr>
          <p:cNvPr id="8" name="Text 4"/>
          <p:cNvSpPr/>
          <p:nvPr/>
        </p:nvSpPr>
        <p:spPr>
          <a:xfrm>
            <a:off x="926157" y="1994892"/>
            <a:ext cx="7694265" cy="1811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9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Системный анализ предметной области аудиовещания</a:t>
            </a:r>
            <a:endParaRPr lang="en-US" sz="9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70012" y="2385045"/>
            <a:ext cx="185812" cy="185812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926157" y="2381250"/>
            <a:ext cx="1457623" cy="182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База данных</a:t>
            </a:r>
            <a:endParaRPr lang="en-US" sz="1100" dirty="0"/>
          </a:p>
        </p:txBody>
      </p:sp>
      <p:sp>
        <p:nvSpPr>
          <p:cNvPr id="11" name="Text 6"/>
          <p:cNvSpPr/>
          <p:nvPr/>
        </p:nvSpPr>
        <p:spPr>
          <a:xfrm>
            <a:off x="926157" y="2624956"/>
            <a:ext cx="7694265" cy="1811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9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Проектирование схемы реляционной БД MySQL</a:t>
            </a:r>
            <a:endParaRPr lang="en-US" sz="9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70012" y="3015109"/>
            <a:ext cx="185812" cy="185812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926157" y="3011314"/>
            <a:ext cx="1457623" cy="182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Сервер</a:t>
            </a:r>
            <a:endParaRPr lang="en-US" sz="1100" dirty="0"/>
          </a:p>
        </p:txBody>
      </p:sp>
      <p:sp>
        <p:nvSpPr>
          <p:cNvPr id="14" name="Text 8"/>
          <p:cNvSpPr/>
          <p:nvPr/>
        </p:nvSpPr>
        <p:spPr>
          <a:xfrm>
            <a:off x="926157" y="3255020"/>
            <a:ext cx="7694265" cy="1811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9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Асинхронное REST API на FastAPI (Python)</a:t>
            </a:r>
            <a:endParaRPr lang="en-US" sz="95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70012" y="3645173"/>
            <a:ext cx="185812" cy="185812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926157" y="3641378"/>
            <a:ext cx="1457623" cy="182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Клиент</a:t>
            </a:r>
            <a:endParaRPr lang="en-US" sz="1100" dirty="0"/>
          </a:p>
        </p:txBody>
      </p:sp>
      <p:sp>
        <p:nvSpPr>
          <p:cNvPr id="17" name="Text 10"/>
          <p:cNvSpPr/>
          <p:nvPr/>
        </p:nvSpPr>
        <p:spPr>
          <a:xfrm>
            <a:off x="926157" y="3885084"/>
            <a:ext cx="7694265" cy="1811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9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Кроссплатформенное приложение на Flutter (Dart)</a:t>
            </a:r>
            <a:endParaRPr lang="en-US" sz="950" dirty="0"/>
          </a:p>
        </p:txBody>
      </p:sp>
      <p:pic>
        <p:nvPicPr>
          <p:cNvPr id="18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70012" y="4275237"/>
            <a:ext cx="185812" cy="185812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926157" y="4271442"/>
            <a:ext cx="1457623" cy="182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Безопасность</a:t>
            </a:r>
            <a:endParaRPr lang="en-US" sz="1100" dirty="0"/>
          </a:p>
        </p:txBody>
      </p:sp>
      <p:sp>
        <p:nvSpPr>
          <p:cNvPr id="20" name="Text 12"/>
          <p:cNvSpPr/>
          <p:nvPr/>
        </p:nvSpPr>
        <p:spPr>
          <a:xfrm>
            <a:off x="926157" y="4515148"/>
            <a:ext cx="7694265" cy="1811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9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Защита сессий (JWT) и валидация медиаданных</a:t>
            </a:r>
            <a:endParaRPr lang="en-US" sz="950" dirty="0"/>
          </a:p>
        </p:txBody>
      </p:sp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8436471F-8E40-F151-1F8C-758D43CBAEFA}"/>
              </a:ext>
            </a:extLst>
          </p:cNvPr>
          <p:cNvSpPr/>
          <p:nvPr/>
        </p:nvSpPr>
        <p:spPr>
          <a:xfrm>
            <a:off x="7954108" y="4690913"/>
            <a:ext cx="1143000" cy="404446"/>
          </a:xfrm>
          <a:prstGeom prst="rect">
            <a:avLst/>
          </a:prstGeom>
          <a:solidFill>
            <a:srgbClr val="252833"/>
          </a:solidFill>
          <a:ln>
            <a:solidFill>
              <a:srgbClr val="25283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577" y="503039"/>
            <a:ext cx="6444704" cy="440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Диаграмма прецедентов (Use Case)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523577" y="1242268"/>
            <a:ext cx="8096845" cy="478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Разграничение прав доступа на уровне ролей. Связи включения </a:t>
            </a:r>
            <a:r>
              <a:rPr lang="en-US" sz="1150" b="1" dirty="0">
                <a:solidFill>
                  <a:srgbClr val="D6E5EF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«include»</a:t>
            </a:r>
            <a:r>
              <a:rPr lang="en-US" sz="11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для интеграции подсистем поиска и управления воспроизведением.</a:t>
            </a:r>
            <a:endParaRPr lang="en-US" sz="11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577" y="2057549"/>
            <a:ext cx="3252788" cy="241458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759226" y="2192164"/>
            <a:ext cx="2217316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Слушатель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4759226" y="2561704"/>
            <a:ext cx="3865959" cy="8227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33680" indent="-233680" algn="l">
              <a:lnSpc>
                <a:spcPct val="133000"/>
              </a:lnSpc>
              <a:buSzPct val="100000"/>
              <a:buChar char="•"/>
            </a:pPr>
            <a:r>
              <a:rPr lang="en-US" sz="11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Воспроизведение подкастка</a:t>
            </a:r>
            <a:endParaRPr lang="en-US" sz="1150" dirty="0"/>
          </a:p>
          <a:p>
            <a:pPr marL="233680" indent="-233680" algn="l">
              <a:lnSpc>
                <a:spcPct val="133000"/>
              </a:lnSpc>
              <a:buSzPct val="100000"/>
              <a:buChar char="•"/>
            </a:pPr>
            <a:r>
              <a:rPr lang="en-US" sz="11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Поиск и фильтрация по категориям</a:t>
            </a:r>
            <a:endParaRPr lang="en-US" sz="1150" dirty="0"/>
          </a:p>
          <a:p>
            <a:pPr marL="233680" indent="-233680" algn="l">
              <a:lnSpc>
                <a:spcPct val="133000"/>
              </a:lnSpc>
              <a:buSzPct val="100000"/>
              <a:buChar char="•"/>
            </a:pPr>
            <a:r>
              <a:rPr lang="en-US" sz="11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Регистрация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4759226" y="3534073"/>
            <a:ext cx="2217316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Администратор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4759226" y="3903613"/>
            <a:ext cx="3865959" cy="5310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33680" indent="-233680" algn="l">
              <a:lnSpc>
                <a:spcPct val="133000"/>
              </a:lnSpc>
              <a:buSzPct val="100000"/>
              <a:buChar char="•"/>
            </a:pPr>
            <a:r>
              <a:rPr lang="en-US" sz="11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Просмотр пользователей</a:t>
            </a:r>
            <a:endParaRPr lang="en-US" sz="1150" dirty="0"/>
          </a:p>
          <a:p>
            <a:pPr marL="233680" indent="-233680" algn="l">
              <a:lnSpc>
                <a:spcPct val="133000"/>
              </a:lnSpc>
              <a:buSzPct val="100000"/>
              <a:buChar char="•"/>
            </a:pPr>
            <a:r>
              <a:rPr lang="en-US" sz="11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Публикация и удаление подкастов</a:t>
            </a:r>
            <a:endParaRPr lang="en-US" sz="1150" dirty="0"/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A9466F10-446C-984C-C940-A712333BCEC6}"/>
              </a:ext>
            </a:extLst>
          </p:cNvPr>
          <p:cNvSpPr/>
          <p:nvPr/>
        </p:nvSpPr>
        <p:spPr>
          <a:xfrm>
            <a:off x="7954108" y="4690913"/>
            <a:ext cx="1143000" cy="404446"/>
          </a:xfrm>
          <a:prstGeom prst="rect">
            <a:avLst/>
          </a:prstGeom>
          <a:solidFill>
            <a:srgbClr val="252833"/>
          </a:solidFill>
          <a:ln>
            <a:solidFill>
              <a:srgbClr val="25283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577" y="669503"/>
            <a:ext cx="5441231" cy="440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Входные и выходные данные</a:t>
            </a:r>
            <a:endParaRPr lang="en-US" sz="2750" dirty="0"/>
          </a:p>
        </p:txBody>
      </p:sp>
      <p:sp>
        <p:nvSpPr>
          <p:cNvPr id="3" name="Shape 1"/>
          <p:cNvSpPr/>
          <p:nvPr/>
        </p:nvSpPr>
        <p:spPr>
          <a:xfrm>
            <a:off x="523577" y="1333872"/>
            <a:ext cx="3973637" cy="848246"/>
          </a:xfrm>
          <a:prstGeom prst="roundRect">
            <a:avLst>
              <a:gd name="adj" fmla="val 2646"/>
            </a:avLst>
          </a:prstGeom>
          <a:solidFill>
            <a:srgbClr val="444752"/>
          </a:solidFill>
          <a:ln/>
        </p:spPr>
      </p:sp>
      <p:sp>
        <p:nvSpPr>
          <p:cNvPr id="4" name="Text 2"/>
          <p:cNvSpPr/>
          <p:nvPr/>
        </p:nvSpPr>
        <p:spPr>
          <a:xfrm>
            <a:off x="673150" y="1483444"/>
            <a:ext cx="1790998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Данные авторизации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673150" y="1793156"/>
            <a:ext cx="3674492" cy="239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Email и пароль (от 8 символов)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4646786" y="1333872"/>
            <a:ext cx="3973637" cy="848246"/>
          </a:xfrm>
          <a:prstGeom prst="roundRect">
            <a:avLst>
              <a:gd name="adj" fmla="val 2646"/>
            </a:avLst>
          </a:prstGeom>
          <a:solidFill>
            <a:srgbClr val="444752"/>
          </a:solidFill>
          <a:ln/>
        </p:spPr>
      </p:sp>
      <p:sp>
        <p:nvSpPr>
          <p:cNvPr id="7" name="Text 5"/>
          <p:cNvSpPr/>
          <p:nvPr/>
        </p:nvSpPr>
        <p:spPr>
          <a:xfrm>
            <a:off x="4796358" y="1483444"/>
            <a:ext cx="1892201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Метаданные подкаста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4796358" y="1793156"/>
            <a:ext cx="3674492" cy="239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Название, описание, категория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23577" y="2331690"/>
            <a:ext cx="3973637" cy="848246"/>
          </a:xfrm>
          <a:prstGeom prst="roundRect">
            <a:avLst>
              <a:gd name="adj" fmla="val 2646"/>
            </a:avLst>
          </a:prstGeom>
          <a:solidFill>
            <a:srgbClr val="444752"/>
          </a:solidFill>
          <a:ln/>
        </p:spPr>
      </p:sp>
      <p:sp>
        <p:nvSpPr>
          <p:cNvPr id="10" name="Text 8"/>
          <p:cNvSpPr/>
          <p:nvPr/>
        </p:nvSpPr>
        <p:spPr>
          <a:xfrm>
            <a:off x="673150" y="2481263"/>
            <a:ext cx="1760116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Медиаконтент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673150" y="2790974"/>
            <a:ext cx="3674492" cy="239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Файл .mp3 (audio/mpeg), лимит </a:t>
            </a:r>
            <a:r>
              <a:rPr lang="en-US" sz="1150" b="1" dirty="0">
                <a:solidFill>
                  <a:srgbClr val="D6E5EF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100 МБ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646786" y="2331690"/>
            <a:ext cx="3973637" cy="848246"/>
          </a:xfrm>
          <a:prstGeom prst="roundRect">
            <a:avLst>
              <a:gd name="adj" fmla="val 2646"/>
            </a:avLst>
          </a:prstGeom>
          <a:solidFill>
            <a:srgbClr val="444752"/>
          </a:solidFill>
          <a:ln/>
        </p:spPr>
      </p:sp>
      <p:sp>
        <p:nvSpPr>
          <p:cNvPr id="13" name="Text 11"/>
          <p:cNvSpPr/>
          <p:nvPr/>
        </p:nvSpPr>
        <p:spPr>
          <a:xfrm>
            <a:off x="4796358" y="2481263"/>
            <a:ext cx="1760116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Поисковый запрос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4796358" y="2790974"/>
            <a:ext cx="3674492" cy="239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Строка до 255 символов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23577" y="3348186"/>
            <a:ext cx="2599209" cy="1125736"/>
          </a:xfrm>
          <a:prstGeom prst="roundRect">
            <a:avLst>
              <a:gd name="adj" fmla="val 1994"/>
            </a:avLst>
          </a:prstGeom>
          <a:solidFill>
            <a:srgbClr val="252833"/>
          </a:solidFill>
          <a:ln w="19050">
            <a:solidFill>
              <a:srgbClr val="5D606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92200" y="3516809"/>
            <a:ext cx="1760116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JSON-ответы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692200" y="3826520"/>
            <a:ext cx="2261964" cy="478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Списки подкастов и данные сессий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3272358" y="3348186"/>
            <a:ext cx="2599209" cy="1125736"/>
          </a:xfrm>
          <a:prstGeom prst="roundRect">
            <a:avLst>
              <a:gd name="adj" fmla="val 1994"/>
            </a:avLst>
          </a:prstGeom>
          <a:solidFill>
            <a:srgbClr val="252833"/>
          </a:solidFill>
          <a:ln w="19050">
            <a:solidFill>
              <a:srgbClr val="5D606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440981" y="3516809"/>
            <a:ext cx="1760116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JWT-токен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3440981" y="3826520"/>
            <a:ext cx="2261964" cy="239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Ключ сессии — </a:t>
            </a:r>
            <a:r>
              <a:rPr lang="en-US" sz="1150" b="1" dirty="0">
                <a:solidFill>
                  <a:srgbClr val="D6E5EF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HS256 Bearer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021139" y="3348186"/>
            <a:ext cx="2599283" cy="1125736"/>
          </a:xfrm>
          <a:prstGeom prst="roundRect">
            <a:avLst>
              <a:gd name="adj" fmla="val 1994"/>
            </a:avLst>
          </a:prstGeom>
          <a:solidFill>
            <a:srgbClr val="252833"/>
          </a:solidFill>
          <a:ln w="19050">
            <a:solidFill>
              <a:srgbClr val="5D606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189762" y="3516809"/>
            <a:ext cx="1760116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Аудиопоток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6189762" y="3826520"/>
            <a:ext cx="2262039" cy="478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Двоичный сигнал через эндпоинт </a:t>
            </a:r>
            <a:r>
              <a:rPr lang="en-US" sz="1150" b="1" dirty="0">
                <a:solidFill>
                  <a:srgbClr val="D6E5EF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/static/</a:t>
            </a:r>
            <a:r>
              <a:rPr lang="en-US" sz="11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из папки </a:t>
            </a:r>
            <a:r>
              <a:rPr lang="en-US" sz="1150" b="1" dirty="0">
                <a:solidFill>
                  <a:srgbClr val="D6E5EF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uploads/</a:t>
            </a:r>
            <a:endParaRPr lang="en-US" sz="1150" dirty="0"/>
          </a:p>
        </p:txBody>
      </p:sp>
      <p:sp>
        <p:nvSpPr>
          <p:cNvPr id="24" name="Прямоугольник 23">
            <a:extLst>
              <a:ext uri="{FF2B5EF4-FFF2-40B4-BE49-F238E27FC236}">
                <a16:creationId xmlns:a16="http://schemas.microsoft.com/office/drawing/2014/main" id="{42216F96-E0CE-2060-CA0E-447C4CD67A80}"/>
              </a:ext>
            </a:extLst>
          </p:cNvPr>
          <p:cNvSpPr/>
          <p:nvPr/>
        </p:nvSpPr>
        <p:spPr>
          <a:xfrm>
            <a:off x="7954108" y="4690913"/>
            <a:ext cx="1143000" cy="404446"/>
          </a:xfrm>
          <a:prstGeom prst="rect">
            <a:avLst/>
          </a:prstGeom>
          <a:solidFill>
            <a:srgbClr val="252833"/>
          </a:solidFill>
          <a:ln>
            <a:solidFill>
              <a:srgbClr val="25283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577" y="413072"/>
            <a:ext cx="3673673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База данных и требования к продукту</a:t>
            </a:r>
            <a:endParaRPr lang="en-US" sz="13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577" y="731118"/>
            <a:ext cx="3957191" cy="395719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667994" y="2157785"/>
            <a:ext cx="1406798" cy="1099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65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Структура БД (MySQL)</a:t>
            </a:r>
            <a:endParaRPr lang="en-US" sz="650" dirty="0"/>
          </a:p>
        </p:txBody>
      </p:sp>
      <p:sp>
        <p:nvSpPr>
          <p:cNvPr id="5" name="Text 2"/>
          <p:cNvSpPr/>
          <p:nvPr/>
        </p:nvSpPr>
        <p:spPr>
          <a:xfrm>
            <a:off x="4667994" y="2305124"/>
            <a:ext cx="3957191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11760" indent="-111760" algn="l">
              <a:lnSpc>
                <a:spcPct val="100000"/>
              </a:lnSpc>
              <a:buSzPct val="100000"/>
              <a:buChar char="•"/>
            </a:pPr>
            <a:r>
              <a:rPr lang="en-US" sz="550" b="1" dirty="0">
                <a:solidFill>
                  <a:srgbClr val="D6E5EF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users</a:t>
            </a:r>
            <a:r>
              <a:rPr lang="en-US" sz="5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— учётные записи, роли, хэшированные пароли</a:t>
            </a:r>
            <a:endParaRPr lang="en-US" sz="550" dirty="0"/>
          </a:p>
          <a:p>
            <a:pPr marL="111760" indent="-111760" algn="l">
              <a:lnSpc>
                <a:spcPct val="100000"/>
              </a:lnSpc>
              <a:buSzPct val="100000"/>
              <a:buChar char="•"/>
            </a:pPr>
            <a:r>
              <a:rPr lang="en-US" sz="550" b="1" dirty="0">
                <a:solidFill>
                  <a:srgbClr val="D6E5EF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podcasts</a:t>
            </a:r>
            <a:r>
              <a:rPr lang="en-US" sz="5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— названия, категории, описания, пути к .mp3 файлам</a:t>
            </a:r>
            <a:endParaRPr lang="en-US" sz="550" dirty="0"/>
          </a:p>
          <a:p>
            <a:pPr marL="111760" indent="-111760" algn="l">
              <a:lnSpc>
                <a:spcPct val="100000"/>
              </a:lnSpc>
              <a:buSzPct val="100000"/>
              <a:buChar char="•"/>
            </a:pPr>
            <a:r>
              <a:rPr lang="en-US" sz="5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Ссылочная целостность, минимизация избыточности</a:t>
            </a:r>
            <a:endParaRPr lang="en-US" sz="550" dirty="0"/>
          </a:p>
        </p:txBody>
      </p:sp>
      <p:sp>
        <p:nvSpPr>
          <p:cNvPr id="6" name="Text 3"/>
          <p:cNvSpPr/>
          <p:nvPr/>
        </p:nvSpPr>
        <p:spPr>
          <a:xfrm>
            <a:off x="4667994" y="2637755"/>
            <a:ext cx="1827386" cy="1099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65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Нефункциональные требования</a:t>
            </a:r>
            <a:endParaRPr lang="en-US" sz="650" dirty="0"/>
          </a:p>
        </p:txBody>
      </p:sp>
      <p:sp>
        <p:nvSpPr>
          <p:cNvPr id="7" name="Text 4"/>
          <p:cNvSpPr/>
          <p:nvPr/>
        </p:nvSpPr>
        <p:spPr>
          <a:xfrm>
            <a:off x="4667994" y="2785095"/>
            <a:ext cx="3957191" cy="5008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11760" indent="-111760" algn="l">
              <a:lnSpc>
                <a:spcPct val="100000"/>
              </a:lnSpc>
              <a:buSzPct val="100000"/>
              <a:buChar char="•"/>
            </a:pPr>
            <a:r>
              <a:rPr lang="en-US" sz="5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Интерфейс в стиле </a:t>
            </a:r>
            <a:r>
              <a:rPr lang="en-US" sz="550" b="1" dirty="0">
                <a:solidFill>
                  <a:srgbClr val="D6E5EF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Dark Premium</a:t>
            </a:r>
            <a:endParaRPr lang="en-US" sz="550" dirty="0"/>
          </a:p>
          <a:p>
            <a:pPr marL="111760" indent="-111760" algn="l">
              <a:lnSpc>
                <a:spcPct val="100000"/>
              </a:lnSpc>
              <a:buSzPct val="100000"/>
              <a:buChar char="•"/>
            </a:pPr>
            <a:r>
              <a:rPr lang="en-US" sz="5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Хэширование паролей — </a:t>
            </a:r>
            <a:r>
              <a:rPr lang="en-US" sz="550" b="1" dirty="0">
                <a:solidFill>
                  <a:srgbClr val="D6E5EF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bcrypt</a:t>
            </a:r>
            <a:endParaRPr lang="en-US" sz="550" dirty="0"/>
          </a:p>
          <a:p>
            <a:pPr marL="111760" indent="-111760" algn="l">
              <a:lnSpc>
                <a:spcPct val="100000"/>
              </a:lnSpc>
              <a:buSzPct val="100000"/>
              <a:buChar char="•"/>
            </a:pPr>
            <a:r>
              <a:rPr lang="en-US" sz="5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Изолированная раздача статических файлов</a:t>
            </a:r>
            <a:endParaRPr lang="en-US" sz="550" dirty="0"/>
          </a:p>
          <a:p>
            <a:pPr marL="111760" indent="-111760" algn="l">
              <a:lnSpc>
                <a:spcPct val="100000"/>
              </a:lnSpc>
              <a:buSzPct val="100000"/>
              <a:buChar char="•"/>
            </a:pPr>
            <a:r>
              <a:rPr lang="en-US" sz="5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Минимальная задержка при буферизации аудиопотока</a:t>
            </a:r>
            <a:endParaRPr lang="en-US" sz="550" dirty="0"/>
          </a:p>
          <a:p>
            <a:pPr marL="111760" indent="-111760" algn="l">
              <a:lnSpc>
                <a:spcPct val="100000"/>
              </a:lnSpc>
              <a:buSzPct val="100000"/>
              <a:buChar char="•"/>
            </a:pPr>
            <a:r>
              <a:rPr lang="en-US" sz="5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Централизованное управление каталогом через защищённый API</a:t>
            </a:r>
            <a:endParaRPr lang="en-US" sz="550" dirty="0"/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DF6C39C1-6301-5351-E431-CED3A92935DC}"/>
              </a:ext>
            </a:extLst>
          </p:cNvPr>
          <p:cNvSpPr/>
          <p:nvPr/>
        </p:nvSpPr>
        <p:spPr>
          <a:xfrm>
            <a:off x="7954108" y="4690913"/>
            <a:ext cx="1143000" cy="404446"/>
          </a:xfrm>
          <a:prstGeom prst="rect">
            <a:avLst/>
          </a:prstGeom>
          <a:solidFill>
            <a:srgbClr val="252833"/>
          </a:solidFill>
          <a:ln>
            <a:solidFill>
              <a:srgbClr val="25283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577" y="953319"/>
            <a:ext cx="5575027" cy="440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Архитектура и развёртывание</a:t>
            </a:r>
            <a:endParaRPr lang="en-US" sz="2750" dirty="0"/>
          </a:p>
        </p:txBody>
      </p:sp>
      <p:sp>
        <p:nvSpPr>
          <p:cNvPr id="3" name="Shape 1"/>
          <p:cNvSpPr/>
          <p:nvPr/>
        </p:nvSpPr>
        <p:spPr>
          <a:xfrm>
            <a:off x="523577" y="1617687"/>
            <a:ext cx="2599209" cy="1685999"/>
          </a:xfrm>
          <a:prstGeom prst="roundRect">
            <a:avLst>
              <a:gd name="adj" fmla="val 1331"/>
            </a:avLst>
          </a:prstGeom>
          <a:solidFill>
            <a:srgbClr val="444752"/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3150" y="1767260"/>
            <a:ext cx="448791" cy="448791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96528" y="1890638"/>
            <a:ext cx="201960" cy="20196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673150" y="2365623"/>
            <a:ext cx="1760116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Database Server</a:t>
            </a:r>
            <a:endParaRPr lang="en-US" sz="1350" dirty="0"/>
          </a:p>
        </p:txBody>
      </p:sp>
      <p:sp>
        <p:nvSpPr>
          <p:cNvPr id="7" name="Text 3"/>
          <p:cNvSpPr/>
          <p:nvPr/>
        </p:nvSpPr>
        <p:spPr>
          <a:xfrm>
            <a:off x="673150" y="2675334"/>
            <a:ext cx="2300064" cy="478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MySQL 8.0 — хранение реляционных данных</a:t>
            </a:r>
            <a:endParaRPr lang="en-US" sz="1150" dirty="0"/>
          </a:p>
        </p:txBody>
      </p:sp>
      <p:sp>
        <p:nvSpPr>
          <p:cNvPr id="8" name="Shape 4"/>
          <p:cNvSpPr/>
          <p:nvPr/>
        </p:nvSpPr>
        <p:spPr>
          <a:xfrm>
            <a:off x="3272358" y="1617687"/>
            <a:ext cx="2599209" cy="1685999"/>
          </a:xfrm>
          <a:prstGeom prst="roundRect">
            <a:avLst>
              <a:gd name="adj" fmla="val 1331"/>
            </a:avLst>
          </a:prstGeom>
          <a:solidFill>
            <a:srgbClr val="444752"/>
          </a:solidFill>
          <a:ln/>
        </p:spPr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21931" y="1767260"/>
            <a:ext cx="448791" cy="448791"/>
          </a:xfrm>
          <a:prstGeom prst="rect">
            <a:avLst/>
          </a:prstGeom>
        </p:spPr>
      </p:pic>
      <p:pic>
        <p:nvPicPr>
          <p:cNvPr id="10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545309" y="1890638"/>
            <a:ext cx="201960" cy="20196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3421931" y="2365623"/>
            <a:ext cx="1760116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Application Server</a:t>
            </a:r>
            <a:endParaRPr lang="en-US" sz="1350" dirty="0"/>
          </a:p>
        </p:txBody>
      </p:sp>
      <p:sp>
        <p:nvSpPr>
          <p:cNvPr id="12" name="Text 6"/>
          <p:cNvSpPr/>
          <p:nvPr/>
        </p:nvSpPr>
        <p:spPr>
          <a:xfrm>
            <a:off x="3421931" y="2675334"/>
            <a:ext cx="2300064" cy="478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Python, FastAPI, Uvicorn (ASGI), папка </a:t>
            </a:r>
            <a:r>
              <a:rPr lang="en-US" sz="1150" b="1" dirty="0">
                <a:solidFill>
                  <a:srgbClr val="D6E5EF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uploads/</a:t>
            </a:r>
            <a:endParaRPr lang="en-US" sz="1150" dirty="0"/>
          </a:p>
        </p:txBody>
      </p:sp>
      <p:sp>
        <p:nvSpPr>
          <p:cNvPr id="13" name="Shape 7"/>
          <p:cNvSpPr/>
          <p:nvPr/>
        </p:nvSpPr>
        <p:spPr>
          <a:xfrm>
            <a:off x="6021139" y="1617687"/>
            <a:ext cx="2599283" cy="1685999"/>
          </a:xfrm>
          <a:prstGeom prst="roundRect">
            <a:avLst>
              <a:gd name="adj" fmla="val 1331"/>
            </a:avLst>
          </a:prstGeom>
          <a:solidFill>
            <a:srgbClr val="444752"/>
          </a:solidFill>
          <a:ln/>
        </p:spPr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70712" y="1767260"/>
            <a:ext cx="448791" cy="448791"/>
          </a:xfrm>
          <a:prstGeom prst="rect">
            <a:avLst/>
          </a:prstGeom>
        </p:spPr>
      </p:pic>
      <p:pic>
        <p:nvPicPr>
          <p:cNvPr id="15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294090" y="1890638"/>
            <a:ext cx="201960" cy="201960"/>
          </a:xfrm>
          <a:prstGeom prst="rect">
            <a:avLst/>
          </a:prstGeom>
        </p:spPr>
      </p:pic>
      <p:sp>
        <p:nvSpPr>
          <p:cNvPr id="16" name="Text 8"/>
          <p:cNvSpPr/>
          <p:nvPr/>
        </p:nvSpPr>
        <p:spPr>
          <a:xfrm>
            <a:off x="6170712" y="2365623"/>
            <a:ext cx="1760116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Mobile Client</a:t>
            </a:r>
            <a:endParaRPr lang="en-US" sz="1350" dirty="0"/>
          </a:p>
        </p:txBody>
      </p:sp>
      <p:sp>
        <p:nvSpPr>
          <p:cNvPr id="17" name="Text 9"/>
          <p:cNvSpPr/>
          <p:nvPr/>
        </p:nvSpPr>
        <p:spPr>
          <a:xfrm>
            <a:off x="6170712" y="2675334"/>
            <a:ext cx="2300139" cy="478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Flutter — приложение для Android/iOS</a:t>
            </a:r>
            <a:endParaRPr lang="en-US" sz="1150" dirty="0"/>
          </a:p>
        </p:txBody>
      </p:sp>
      <p:sp>
        <p:nvSpPr>
          <p:cNvPr id="18" name="Text 10"/>
          <p:cNvSpPr/>
          <p:nvPr/>
        </p:nvSpPr>
        <p:spPr>
          <a:xfrm>
            <a:off x="523577" y="3471937"/>
            <a:ext cx="8096845" cy="7181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Мобильный эмулятор обращается к хосту через </a:t>
            </a:r>
            <a:r>
              <a:rPr lang="en-US" sz="1150" b="1" dirty="0">
                <a:solidFill>
                  <a:srgbClr val="D6E5EF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10.0.2.2:8000</a:t>
            </a:r>
            <a:r>
              <a:rPr lang="en-US" sz="11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. Проверка токенов через заголовок </a:t>
            </a:r>
            <a:r>
              <a:rPr lang="en-US" sz="1150" b="1" dirty="0">
                <a:solidFill>
                  <a:srgbClr val="D6E5EF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Authorization: Bearer</a:t>
            </a:r>
            <a:r>
              <a:rPr lang="en-US" sz="11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. Маршрутизация трафика внутри СУБД средствами ORM </a:t>
            </a:r>
            <a:r>
              <a:rPr lang="en-US" sz="1150" b="1" dirty="0">
                <a:solidFill>
                  <a:srgbClr val="D6E5EF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SQLAlchemy</a:t>
            </a:r>
            <a:r>
              <a:rPr lang="en-US" sz="11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. Локальное кэширование токена на мобильном устройстве.</a:t>
            </a:r>
            <a:endParaRPr lang="en-US" sz="1150" dirty="0"/>
          </a:p>
        </p:txBody>
      </p:sp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29D78B68-E303-92D5-41D7-EAD5E2535085}"/>
              </a:ext>
            </a:extLst>
          </p:cNvPr>
          <p:cNvSpPr/>
          <p:nvPr/>
        </p:nvSpPr>
        <p:spPr>
          <a:xfrm>
            <a:off x="7954108" y="4690913"/>
            <a:ext cx="1143000" cy="404446"/>
          </a:xfrm>
          <a:prstGeom prst="rect">
            <a:avLst/>
          </a:prstGeom>
          <a:solidFill>
            <a:srgbClr val="252833"/>
          </a:solidFill>
          <a:ln>
            <a:solidFill>
              <a:srgbClr val="25283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577" y="464939"/>
            <a:ext cx="8096845" cy="78372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5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Серверная часть (FastAPI) и управление состоянием (Flutter)</a:t>
            </a:r>
            <a:endParaRPr lang="en-US" sz="2450" dirty="0"/>
          </a:p>
        </p:txBody>
      </p:sp>
      <p:sp>
        <p:nvSpPr>
          <p:cNvPr id="3" name="Text 1"/>
          <p:cNvSpPr/>
          <p:nvPr/>
        </p:nvSpPr>
        <p:spPr>
          <a:xfrm>
            <a:off x="523577" y="1545282"/>
            <a:ext cx="2024807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Модули FastAPI</a:t>
            </a:r>
            <a:endParaRPr lang="en-US" sz="12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23577" y="1874713"/>
            <a:ext cx="1883643" cy="121406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28216" y="2022202"/>
            <a:ext cx="1531516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models.py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728216" y="2336750"/>
            <a:ext cx="1531516" cy="201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10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Описание таблиц СУБД</a:t>
            </a:r>
            <a:endParaRPr lang="en-US" sz="10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525837" y="1874713"/>
            <a:ext cx="1883643" cy="1214065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2730475" y="2022202"/>
            <a:ext cx="1531516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schemas.py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2730475" y="2336750"/>
            <a:ext cx="1531516" cy="604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10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Pydantic-модели для валидации и фильтрации JSON-ответов</a:t>
            </a:r>
            <a:endParaRPr lang="en-US" sz="10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3577" y="3207395"/>
            <a:ext cx="1883643" cy="1208484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728216" y="3354884"/>
            <a:ext cx="1531516" cy="3918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auth.py / podcasts.py</a:t>
            </a:r>
            <a:endParaRPr lang="en-US" sz="1200" dirty="0"/>
          </a:p>
        </p:txBody>
      </p:sp>
      <p:sp>
        <p:nvSpPr>
          <p:cNvPr id="12" name="Text 7"/>
          <p:cNvSpPr/>
          <p:nvPr/>
        </p:nvSpPr>
        <p:spPr>
          <a:xfrm>
            <a:off x="728216" y="3865364"/>
            <a:ext cx="1531516" cy="201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10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Изолированные роутеры</a:t>
            </a:r>
            <a:endParaRPr lang="en-US" sz="100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525837" y="3207395"/>
            <a:ext cx="1883643" cy="1208484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2730475" y="3354884"/>
            <a:ext cx="1531516" cy="3918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database.py / config.py</a:t>
            </a:r>
            <a:endParaRPr lang="en-US" sz="1200" dirty="0"/>
          </a:p>
        </p:txBody>
      </p:sp>
      <p:sp>
        <p:nvSpPr>
          <p:cNvPr id="15" name="Text 9"/>
          <p:cNvSpPr/>
          <p:nvPr/>
        </p:nvSpPr>
        <p:spPr>
          <a:xfrm>
            <a:off x="2730475" y="3865364"/>
            <a:ext cx="1531516" cy="4030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10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Подключение к MySQL, секреты JWT</a:t>
            </a:r>
            <a:endParaRPr lang="en-US" sz="1000" dirty="0"/>
          </a:p>
        </p:txBody>
      </p:sp>
      <p:sp>
        <p:nvSpPr>
          <p:cNvPr id="16" name="Text 10"/>
          <p:cNvSpPr/>
          <p:nvPr/>
        </p:nvSpPr>
        <p:spPr>
          <a:xfrm>
            <a:off x="4739283" y="1545282"/>
            <a:ext cx="2577629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State Management (provider)</a:t>
            </a:r>
            <a:endParaRPr lang="en-US" sz="1200" dirty="0"/>
          </a:p>
        </p:txBody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739283" y="1874713"/>
            <a:ext cx="3885902" cy="811039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4943921" y="2022202"/>
            <a:ext cx="1567607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AuthProvider</a:t>
            </a:r>
            <a:endParaRPr lang="en-US" sz="1200" dirty="0"/>
          </a:p>
        </p:txBody>
      </p:sp>
      <p:sp>
        <p:nvSpPr>
          <p:cNvPr id="19" name="Text 12"/>
          <p:cNvSpPr/>
          <p:nvPr/>
        </p:nvSpPr>
        <p:spPr>
          <a:xfrm>
            <a:off x="4943921" y="2336750"/>
            <a:ext cx="3533775" cy="201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10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Токен, роли, статус входа</a:t>
            </a:r>
            <a:endParaRPr lang="en-US" sz="1000" dirty="0"/>
          </a:p>
        </p:txBody>
      </p:sp>
      <p:pic>
        <p:nvPicPr>
          <p:cNvPr id="20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739283" y="2804368"/>
            <a:ext cx="3885902" cy="811039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4943921" y="2951857"/>
            <a:ext cx="1567607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PodcastProvider</a:t>
            </a:r>
            <a:endParaRPr lang="en-US" sz="1200" dirty="0"/>
          </a:p>
        </p:txBody>
      </p:sp>
      <p:sp>
        <p:nvSpPr>
          <p:cNvPr id="22" name="Text 14"/>
          <p:cNvSpPr/>
          <p:nvPr/>
        </p:nvSpPr>
        <p:spPr>
          <a:xfrm>
            <a:off x="4943921" y="3266405"/>
            <a:ext cx="3533775" cy="201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10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Загрузка, поиск, фильтрация каталога</a:t>
            </a:r>
            <a:endParaRPr lang="en-US" sz="1000" dirty="0"/>
          </a:p>
        </p:txBody>
      </p:sp>
      <p:pic>
        <p:nvPicPr>
          <p:cNvPr id="23" name="Image 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739283" y="3734023"/>
            <a:ext cx="3885902" cy="811039"/>
          </a:xfrm>
          <a:prstGeom prst="rect">
            <a:avLst/>
          </a:prstGeom>
        </p:spPr>
      </p:pic>
      <p:sp>
        <p:nvSpPr>
          <p:cNvPr id="24" name="Text 15"/>
          <p:cNvSpPr/>
          <p:nvPr/>
        </p:nvSpPr>
        <p:spPr>
          <a:xfrm>
            <a:off x="4943921" y="3881512"/>
            <a:ext cx="1567607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PlaybackProvider</a:t>
            </a:r>
            <a:endParaRPr lang="en-US" sz="1200" dirty="0"/>
          </a:p>
        </p:txBody>
      </p:sp>
      <p:sp>
        <p:nvSpPr>
          <p:cNvPr id="25" name="Text 16"/>
          <p:cNvSpPr/>
          <p:nvPr/>
        </p:nvSpPr>
        <p:spPr>
          <a:xfrm>
            <a:off x="4943921" y="4196060"/>
            <a:ext cx="3533775" cy="201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10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Управление плеером audioplayers, асинхронные потоки</a:t>
            </a:r>
            <a:endParaRPr lang="en-US" sz="1000" dirty="0"/>
          </a:p>
        </p:txBody>
      </p:sp>
      <p:sp>
        <p:nvSpPr>
          <p:cNvPr id="26" name="Прямоугольник 25">
            <a:extLst>
              <a:ext uri="{FF2B5EF4-FFF2-40B4-BE49-F238E27FC236}">
                <a16:creationId xmlns:a16="http://schemas.microsoft.com/office/drawing/2014/main" id="{A51B32F2-5D9D-F13C-0FD2-A1119D13FE17}"/>
              </a:ext>
            </a:extLst>
          </p:cNvPr>
          <p:cNvSpPr/>
          <p:nvPr/>
        </p:nvSpPr>
        <p:spPr>
          <a:xfrm>
            <a:off x="7954108" y="4690913"/>
            <a:ext cx="1143000" cy="404446"/>
          </a:xfrm>
          <a:prstGeom prst="rect">
            <a:avLst/>
          </a:prstGeom>
          <a:solidFill>
            <a:srgbClr val="252833"/>
          </a:solidFill>
          <a:ln>
            <a:solidFill>
              <a:srgbClr val="25283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577" y="442764"/>
            <a:ext cx="6154341" cy="440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Экраны мобильного приложения</a:t>
            </a:r>
            <a:endParaRPr lang="en-US" sz="27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577" y="1181993"/>
            <a:ext cx="1092622" cy="136572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23577" y="2734717"/>
            <a:ext cx="1883941" cy="4399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Авторизация и регистрация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523577" y="3264396"/>
            <a:ext cx="1883941" cy="14363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LoginScreen.dart / RegisterScreen.dart — валидация email (regex), пароль ≥8 символов, проверка совпадения паролей</a:t>
            </a:r>
            <a:endParaRPr lang="en-US" sz="11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94521" y="1181993"/>
            <a:ext cx="1092622" cy="1365721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2594521" y="2734717"/>
            <a:ext cx="1883941" cy="4399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Главный экран слушателя</a:t>
            </a:r>
            <a:endParaRPr lang="en-US" sz="1350" dirty="0"/>
          </a:p>
        </p:txBody>
      </p:sp>
      <p:sp>
        <p:nvSpPr>
          <p:cNvPr id="8" name="Text 4"/>
          <p:cNvSpPr/>
          <p:nvPr/>
        </p:nvSpPr>
        <p:spPr>
          <a:xfrm>
            <a:off x="2594521" y="3264396"/>
            <a:ext cx="1883941" cy="957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MainScreen.dart — поиск (до 255 симв.), чипсы категорий (ChoiceChip), карточки подкастов</a:t>
            </a:r>
            <a:endParaRPr lang="en-US" sz="11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65464" y="1181993"/>
            <a:ext cx="1092622" cy="1365721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4665464" y="2734717"/>
            <a:ext cx="1760116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Медиаплеер</a:t>
            </a:r>
            <a:endParaRPr lang="en-US" sz="1350" dirty="0"/>
          </a:p>
        </p:txBody>
      </p:sp>
      <p:sp>
        <p:nvSpPr>
          <p:cNvPr id="11" name="Text 6"/>
          <p:cNvSpPr/>
          <p:nvPr/>
        </p:nvSpPr>
        <p:spPr>
          <a:xfrm>
            <a:off x="4665464" y="3044428"/>
            <a:ext cx="1883941" cy="1196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PlayerBottomSheet.dart — свёрнуто (84px) / развёрнуто (275px), ползунок перемотки, индикаторы времени</a:t>
            </a:r>
            <a:endParaRPr lang="en-US" sz="11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36407" y="1181993"/>
            <a:ext cx="1092696" cy="136587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6736407" y="2734866"/>
            <a:ext cx="1884015" cy="4399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Экран администратора</a:t>
            </a:r>
            <a:endParaRPr lang="en-US" sz="1350" dirty="0"/>
          </a:p>
        </p:txBody>
      </p:sp>
      <p:sp>
        <p:nvSpPr>
          <p:cNvPr id="14" name="Text 8"/>
          <p:cNvSpPr/>
          <p:nvPr/>
        </p:nvSpPr>
        <p:spPr>
          <a:xfrm>
            <a:off x="6736407" y="3264545"/>
            <a:ext cx="1884015" cy="1196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AdminScreen.dart — каталог пользователей, публикация подкастов (file_picker, Multipart-запрос), удаление через AlertDialog</a:t>
            </a:r>
            <a:endParaRPr lang="en-US" sz="1150" dirty="0"/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BF9EAF62-7DC1-F398-DADA-EC2DA1E9087A}"/>
              </a:ext>
            </a:extLst>
          </p:cNvPr>
          <p:cNvSpPr/>
          <p:nvPr/>
        </p:nvSpPr>
        <p:spPr>
          <a:xfrm>
            <a:off x="7954108" y="4690913"/>
            <a:ext cx="1143000" cy="404446"/>
          </a:xfrm>
          <a:prstGeom prst="rect">
            <a:avLst/>
          </a:prstGeom>
          <a:solidFill>
            <a:srgbClr val="252833"/>
          </a:solidFill>
          <a:ln>
            <a:solidFill>
              <a:srgbClr val="25283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577" y="465237"/>
            <a:ext cx="2822377" cy="2955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Заключение</a:t>
            </a:r>
            <a:endParaRPr lang="en-US" sz="1850" dirty="0"/>
          </a:p>
        </p:txBody>
      </p:sp>
      <p:sp>
        <p:nvSpPr>
          <p:cNvPr id="3" name="Shape 1"/>
          <p:cNvSpPr/>
          <p:nvPr/>
        </p:nvSpPr>
        <p:spPr>
          <a:xfrm>
            <a:off x="523577" y="895871"/>
            <a:ext cx="402059" cy="603126"/>
          </a:xfrm>
          <a:prstGeom prst="roundRect">
            <a:avLst>
              <a:gd name="adj" fmla="val 360023"/>
            </a:avLst>
          </a:prstGeom>
          <a:solidFill>
            <a:srgbClr val="444752"/>
          </a:solidFill>
          <a:ln/>
        </p:spPr>
      </p:sp>
      <p:sp>
        <p:nvSpPr>
          <p:cNvPr id="4" name="Text 2"/>
          <p:cNvSpPr/>
          <p:nvPr/>
        </p:nvSpPr>
        <p:spPr>
          <a:xfrm>
            <a:off x="649188" y="1103188"/>
            <a:ext cx="150763" cy="18841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1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993130" y="996330"/>
            <a:ext cx="1182588" cy="1477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Анализ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993130" y="1184597"/>
            <a:ext cx="7627293" cy="1343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1000"/>
              </a:lnSpc>
              <a:buNone/>
            </a:pPr>
            <a:r>
              <a:rPr lang="en-US" sz="7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Изучена предметная область аудиовещания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523577" y="1566490"/>
            <a:ext cx="402059" cy="603126"/>
          </a:xfrm>
          <a:prstGeom prst="roundRect">
            <a:avLst>
              <a:gd name="adj" fmla="val 360023"/>
            </a:avLst>
          </a:prstGeom>
          <a:solidFill>
            <a:srgbClr val="444752"/>
          </a:solidFill>
          <a:ln/>
        </p:spPr>
      </p:sp>
      <p:sp>
        <p:nvSpPr>
          <p:cNvPr id="8" name="Text 6"/>
          <p:cNvSpPr/>
          <p:nvPr/>
        </p:nvSpPr>
        <p:spPr>
          <a:xfrm>
            <a:off x="649188" y="1773808"/>
            <a:ext cx="150763" cy="18841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2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993130" y="1666949"/>
            <a:ext cx="1182588" cy="1477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Проектирование БД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993130" y="1855217"/>
            <a:ext cx="7627293" cy="1343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1000"/>
              </a:lnSpc>
              <a:buNone/>
            </a:pPr>
            <a:r>
              <a:rPr lang="en-US" sz="7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Создана база данных в MySQL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523577" y="2237110"/>
            <a:ext cx="402059" cy="603126"/>
          </a:xfrm>
          <a:prstGeom prst="roundRect">
            <a:avLst>
              <a:gd name="adj" fmla="val 360023"/>
            </a:avLst>
          </a:prstGeom>
          <a:solidFill>
            <a:srgbClr val="444752"/>
          </a:solidFill>
          <a:ln/>
        </p:spPr>
      </p:sp>
      <p:sp>
        <p:nvSpPr>
          <p:cNvPr id="12" name="Text 10"/>
          <p:cNvSpPr/>
          <p:nvPr/>
        </p:nvSpPr>
        <p:spPr>
          <a:xfrm>
            <a:off x="649188" y="2444428"/>
            <a:ext cx="150763" cy="18841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3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993130" y="2337569"/>
            <a:ext cx="1182588" cy="1477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Разработка API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993130" y="2525837"/>
            <a:ext cx="7627293" cy="1343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1000"/>
              </a:lnSpc>
              <a:buNone/>
            </a:pPr>
            <a:r>
              <a:rPr lang="en-US" sz="7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Асинхронное REST API на FastAPI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523577" y="2907729"/>
            <a:ext cx="402059" cy="603126"/>
          </a:xfrm>
          <a:prstGeom prst="roundRect">
            <a:avLst>
              <a:gd name="adj" fmla="val 360023"/>
            </a:avLst>
          </a:prstGeom>
          <a:solidFill>
            <a:srgbClr val="444752"/>
          </a:solidFill>
          <a:ln/>
        </p:spPr>
      </p:sp>
      <p:sp>
        <p:nvSpPr>
          <p:cNvPr id="16" name="Text 14"/>
          <p:cNvSpPr/>
          <p:nvPr/>
        </p:nvSpPr>
        <p:spPr>
          <a:xfrm>
            <a:off x="649188" y="3115047"/>
            <a:ext cx="150763" cy="18841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4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993130" y="3008188"/>
            <a:ext cx="1182588" cy="1477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Разработка UI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993130" y="3196456"/>
            <a:ext cx="7627293" cy="1343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1000"/>
              </a:lnSpc>
              <a:buNone/>
            </a:pPr>
            <a:r>
              <a:rPr lang="en-US" sz="7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Кроссплатформенное приложение на Flutter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523577" y="3578349"/>
            <a:ext cx="402059" cy="603126"/>
          </a:xfrm>
          <a:prstGeom prst="roundRect">
            <a:avLst>
              <a:gd name="adj" fmla="val 360023"/>
            </a:avLst>
          </a:prstGeom>
          <a:solidFill>
            <a:srgbClr val="444752"/>
          </a:solidFill>
          <a:ln/>
        </p:spPr>
      </p:sp>
      <p:sp>
        <p:nvSpPr>
          <p:cNvPr id="20" name="Text 18"/>
          <p:cNvSpPr/>
          <p:nvPr/>
        </p:nvSpPr>
        <p:spPr>
          <a:xfrm>
            <a:off x="649188" y="3785667"/>
            <a:ext cx="150763" cy="18841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5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993130" y="3678808"/>
            <a:ext cx="1182588" cy="1477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Тестирование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993130" y="3867076"/>
            <a:ext cx="7627293" cy="1343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1000"/>
              </a:lnSpc>
              <a:buNone/>
            </a:pPr>
            <a:r>
              <a:rPr lang="en-US" sz="7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Проведено функциональное приёмочное тестирование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523577" y="4257452"/>
            <a:ext cx="14288" cy="420737"/>
          </a:xfrm>
          <a:prstGeom prst="roundRect">
            <a:avLst>
              <a:gd name="adj" fmla="val 59998"/>
            </a:avLst>
          </a:prstGeom>
          <a:solidFill>
            <a:srgbClr val="F98AC7"/>
          </a:solidFill>
          <a:ln/>
        </p:spPr>
      </p:sp>
      <p:sp>
        <p:nvSpPr>
          <p:cNvPr id="24" name="Text 22"/>
          <p:cNvSpPr/>
          <p:nvPr/>
        </p:nvSpPr>
        <p:spPr>
          <a:xfrm>
            <a:off x="674340" y="4333429"/>
            <a:ext cx="7946082" cy="2687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1000"/>
              </a:lnSpc>
              <a:buNone/>
            </a:pPr>
            <a:r>
              <a:rPr lang="en-US" sz="750" b="1" dirty="0">
                <a:solidFill>
                  <a:srgbClr val="D6E5EF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Тема:</a:t>
            </a:r>
            <a:r>
              <a:rPr lang="en-US" sz="7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«Разработка мобильного приложения для прослушивания подкастов»</a:t>
            </a:r>
            <a:endParaRPr lang="en-US" sz="750" dirty="0"/>
          </a:p>
          <a:p>
            <a:pPr marL="0" indent="0" algn="l">
              <a:lnSpc>
                <a:spcPct val="111000"/>
              </a:lnSpc>
              <a:buNone/>
            </a:pPr>
            <a:r>
              <a:rPr lang="en-US" sz="7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Доклад окончен. Готов ответить на ваши вопросы.</a:t>
            </a:r>
            <a:endParaRPr lang="en-US" sz="750" dirty="0"/>
          </a:p>
        </p:txBody>
      </p:sp>
      <p:sp>
        <p:nvSpPr>
          <p:cNvPr id="25" name="Прямоугольник 24">
            <a:extLst>
              <a:ext uri="{FF2B5EF4-FFF2-40B4-BE49-F238E27FC236}">
                <a16:creationId xmlns:a16="http://schemas.microsoft.com/office/drawing/2014/main" id="{22DB06B2-A1E5-E718-164D-E77CD68B16ED}"/>
              </a:ext>
            </a:extLst>
          </p:cNvPr>
          <p:cNvSpPr/>
          <p:nvPr/>
        </p:nvSpPr>
        <p:spPr>
          <a:xfrm>
            <a:off x="7954108" y="4690913"/>
            <a:ext cx="1143000" cy="404446"/>
          </a:xfrm>
          <a:prstGeom prst="rect">
            <a:avLst/>
          </a:prstGeom>
          <a:solidFill>
            <a:srgbClr val="252833"/>
          </a:solidFill>
          <a:ln>
            <a:solidFill>
              <a:srgbClr val="25283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562</Words>
  <Application>Microsoft Office PowerPoint</Application>
  <PresentationFormat>Экран (16:9)</PresentationFormat>
  <Paragraphs>116</Paragraphs>
  <Slides>9</Slides>
  <Notes>9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</vt:i4>
      </vt:variant>
    </vt:vector>
  </HeadingPairs>
  <TitlesOfParts>
    <vt:vector size="14" baseType="lpstr">
      <vt:lpstr>Source Sans 3 Bold</vt:lpstr>
      <vt:lpstr>Source Sans 3</vt:lpstr>
      <vt:lpstr>Arial</vt:lpstr>
      <vt:lpstr>Lora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Ильнур Файзельгаянов</dc:creator>
  <cp:lastModifiedBy>Ильнур Файзельгаянов</cp:lastModifiedBy>
  <cp:revision>2</cp:revision>
  <dcterms:created xsi:type="dcterms:W3CDTF">2026-06-25T20:21:01Z</dcterms:created>
  <dcterms:modified xsi:type="dcterms:W3CDTF">2026-06-25T20:22:53Z</dcterms:modified>
</cp:coreProperties>
</file>