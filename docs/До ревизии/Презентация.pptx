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embeddedFontLst>
    <p:embeddedFont>
      <p:font typeface="Lora" panose="020B0604020202020204" charset="-52"/>
      <p:regular r:id="rId12"/>
    </p:embeddedFont>
    <p:embeddedFont>
      <p:font typeface="Source Sans 3" panose="020B0604020202020204" charset="0"/>
      <p:regular r:id="rId13"/>
    </p:embeddedFont>
    <p:embeddedFont>
      <p:font typeface="Source Sans 3 Bold" panose="020B0604020202020204" charset="0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528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200" d="100"/>
          <a:sy n="200" d="100"/>
        </p:scale>
        <p:origin x="115" y="-2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57320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676945"/>
            <a:ext cx="8096845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Разработка мобильного приложения для прослушивания подкастов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23577" y="1781324"/>
            <a:ext cx="8096845" cy="26852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Курсовая работа </a:t>
            </a:r>
            <a:endParaRPr lang="en-US" sz="1150" dirty="0"/>
          </a:p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· МДК 02.01 Технология разработки программного обеспечения</a:t>
            </a:r>
            <a:endParaRPr lang="en-US" sz="1150" dirty="0"/>
          </a:p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Специальность: </a:t>
            </a:r>
            <a:endParaRPr lang="en-US" sz="1150" dirty="0"/>
          </a:p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09.02.07 Информационные системы и программирование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Выполнил: студент гр. 23П-4 </a:t>
            </a:r>
            <a:r>
              <a:rPr lang="en-US" sz="11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Файзельгаянов И.Ф.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Руководитель: </a:t>
            </a:r>
            <a:r>
              <a:rPr lang="en-US" sz="11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Фатхулова О.В.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Уфа — 2026</a:t>
            </a:r>
            <a:endParaRPr lang="en-US" sz="1150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70979F4-3E38-07CB-B8A2-327F3AC8AF38}"/>
              </a:ext>
            </a:extLst>
          </p:cNvPr>
          <p:cNvSpPr/>
          <p:nvPr/>
        </p:nvSpPr>
        <p:spPr>
          <a:xfrm>
            <a:off x="7954108" y="4690913"/>
            <a:ext cx="1143000" cy="404446"/>
          </a:xfrm>
          <a:prstGeom prst="rect">
            <a:avLst/>
          </a:prstGeom>
          <a:solidFill>
            <a:srgbClr val="252833"/>
          </a:solidFill>
          <a:ln>
            <a:solidFill>
              <a:srgbClr val="2528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47080"/>
            <a:ext cx="3652168" cy="364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Цель и задачи проекта</a:t>
            </a:r>
            <a:endParaRPr lang="en-US" sz="2250" dirty="0"/>
          </a:p>
        </p:txBody>
      </p:sp>
      <p:sp>
        <p:nvSpPr>
          <p:cNvPr id="3" name="Shape 1"/>
          <p:cNvSpPr/>
          <p:nvPr/>
        </p:nvSpPr>
        <p:spPr>
          <a:xfrm>
            <a:off x="523577" y="1016645"/>
            <a:ext cx="8096845" cy="619125"/>
          </a:xfrm>
          <a:prstGeom prst="roundRect">
            <a:avLst>
              <a:gd name="adj" fmla="val 3002"/>
            </a:avLst>
          </a:prstGeom>
          <a:solidFill>
            <a:srgbClr val="790645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402" y="1186904"/>
            <a:ext cx="154856" cy="12382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26083" y="1150144"/>
            <a:ext cx="7570515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Цель:</a:t>
            </a:r>
            <a:r>
              <a:rPr lang="en-US" sz="9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Разработка отказоустойчивой клиент-серверной системы для публикации, поиска и бесперебойного потокового прослушивания аудиоподкастов.</a:t>
            </a:r>
            <a:endParaRPr lang="en-US" sz="9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0012" y="1754981"/>
            <a:ext cx="185812" cy="1858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26157" y="1751186"/>
            <a:ext cx="1457623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Анализ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926157" y="1994892"/>
            <a:ext cx="7694265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Системный анализ предметной области аудиовещания</a:t>
            </a:r>
            <a:endParaRPr lang="en-US" sz="9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0012" y="2385045"/>
            <a:ext cx="185812" cy="18581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26157" y="2381250"/>
            <a:ext cx="1457623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База данных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926157" y="2624956"/>
            <a:ext cx="7694265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Проектирование схемы реляционной БД MySQL</a:t>
            </a:r>
            <a:endParaRPr lang="en-US" sz="9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0012" y="3015109"/>
            <a:ext cx="185812" cy="18581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26157" y="3011314"/>
            <a:ext cx="1457623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Сервер</a:t>
            </a:r>
            <a:endParaRPr lang="en-US" sz="1100" dirty="0"/>
          </a:p>
        </p:txBody>
      </p:sp>
      <p:sp>
        <p:nvSpPr>
          <p:cNvPr id="14" name="Text 8"/>
          <p:cNvSpPr/>
          <p:nvPr/>
        </p:nvSpPr>
        <p:spPr>
          <a:xfrm>
            <a:off x="926157" y="3255020"/>
            <a:ext cx="7694265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Асинхронное REST API на FastAPI (Python)</a:t>
            </a:r>
            <a:endParaRPr lang="en-US" sz="9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0012" y="3645173"/>
            <a:ext cx="185812" cy="18581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926157" y="3641378"/>
            <a:ext cx="1457623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Клиент</a:t>
            </a:r>
            <a:endParaRPr lang="en-US" sz="1100" dirty="0"/>
          </a:p>
        </p:txBody>
      </p:sp>
      <p:sp>
        <p:nvSpPr>
          <p:cNvPr id="17" name="Text 10"/>
          <p:cNvSpPr/>
          <p:nvPr/>
        </p:nvSpPr>
        <p:spPr>
          <a:xfrm>
            <a:off x="926157" y="3885084"/>
            <a:ext cx="7694265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Кроссплатформенное приложение на Flutter (Dart)</a:t>
            </a:r>
            <a:endParaRPr lang="en-US" sz="9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0012" y="4275237"/>
            <a:ext cx="185812" cy="185812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926157" y="4271442"/>
            <a:ext cx="1457623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Безопасность</a:t>
            </a:r>
            <a:endParaRPr lang="en-US" sz="1100" dirty="0"/>
          </a:p>
        </p:txBody>
      </p:sp>
      <p:sp>
        <p:nvSpPr>
          <p:cNvPr id="20" name="Text 12"/>
          <p:cNvSpPr/>
          <p:nvPr/>
        </p:nvSpPr>
        <p:spPr>
          <a:xfrm>
            <a:off x="926157" y="4515148"/>
            <a:ext cx="7694265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Защита сессий (JWT) и валидация медиаданных</a:t>
            </a:r>
            <a:endParaRPr lang="en-US" sz="950" dirty="0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8436471F-8E40-F151-1F8C-758D43CBAEFA}"/>
              </a:ext>
            </a:extLst>
          </p:cNvPr>
          <p:cNvSpPr/>
          <p:nvPr/>
        </p:nvSpPr>
        <p:spPr>
          <a:xfrm>
            <a:off x="7954108" y="4690913"/>
            <a:ext cx="1143000" cy="404446"/>
          </a:xfrm>
          <a:prstGeom prst="rect">
            <a:avLst/>
          </a:prstGeom>
          <a:solidFill>
            <a:srgbClr val="252833"/>
          </a:solidFill>
          <a:ln>
            <a:solidFill>
              <a:srgbClr val="2528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503039"/>
            <a:ext cx="6444704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Диаграмма прецедентов (Use Case)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23577" y="1242268"/>
            <a:ext cx="8096845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Разграничение прав доступа на уровне ролей. Связи включения </a:t>
            </a:r>
            <a:r>
              <a:rPr lang="en-US" sz="11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«include»</a:t>
            </a: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для интеграции подсистем поиска и управления воспроизведением.</a:t>
            </a:r>
            <a:endParaRPr lang="en-US" sz="11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77" y="2057549"/>
            <a:ext cx="3252788" cy="24145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59226" y="2192164"/>
            <a:ext cx="22173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Слушатель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759226" y="2561704"/>
            <a:ext cx="3865959" cy="8227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Воспроизведение подкастка</a:t>
            </a:r>
            <a:endParaRPr lang="en-US" sz="1150" dirty="0"/>
          </a:p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Поиск и фильтрация по категориям</a:t>
            </a:r>
            <a:endParaRPr lang="en-US" sz="1150" dirty="0"/>
          </a:p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Регистрация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759226" y="3534073"/>
            <a:ext cx="22173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Администратор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759226" y="3903613"/>
            <a:ext cx="3865959" cy="531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Просмотр пользователей</a:t>
            </a:r>
            <a:endParaRPr lang="en-US" sz="1150" dirty="0"/>
          </a:p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Публикация и удаление подкастов</a:t>
            </a:r>
            <a:endParaRPr lang="en-US" sz="1150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9466F10-446C-984C-C940-A712333BCEC6}"/>
              </a:ext>
            </a:extLst>
          </p:cNvPr>
          <p:cNvSpPr/>
          <p:nvPr/>
        </p:nvSpPr>
        <p:spPr>
          <a:xfrm>
            <a:off x="7954108" y="4690913"/>
            <a:ext cx="1143000" cy="404446"/>
          </a:xfrm>
          <a:prstGeom prst="rect">
            <a:avLst/>
          </a:prstGeom>
          <a:solidFill>
            <a:srgbClr val="252833"/>
          </a:solidFill>
          <a:ln>
            <a:solidFill>
              <a:srgbClr val="2528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669503"/>
            <a:ext cx="5441231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Входные и выходные данные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523577" y="1333872"/>
            <a:ext cx="3973637" cy="848246"/>
          </a:xfrm>
          <a:prstGeom prst="roundRect">
            <a:avLst>
              <a:gd name="adj" fmla="val 2646"/>
            </a:avLst>
          </a:prstGeom>
          <a:solidFill>
            <a:srgbClr val="444752"/>
          </a:solidFill>
          <a:ln/>
        </p:spPr>
      </p:sp>
      <p:sp>
        <p:nvSpPr>
          <p:cNvPr id="4" name="Text 2"/>
          <p:cNvSpPr/>
          <p:nvPr/>
        </p:nvSpPr>
        <p:spPr>
          <a:xfrm>
            <a:off x="673150" y="1483444"/>
            <a:ext cx="1790998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Данные авторизации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73150" y="1793156"/>
            <a:ext cx="3674492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Email и пароль (от 8 символов)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646786" y="1333872"/>
            <a:ext cx="3973637" cy="848246"/>
          </a:xfrm>
          <a:prstGeom prst="roundRect">
            <a:avLst>
              <a:gd name="adj" fmla="val 2646"/>
            </a:avLst>
          </a:prstGeom>
          <a:solidFill>
            <a:srgbClr val="444752"/>
          </a:solidFill>
          <a:ln/>
        </p:spPr>
      </p:sp>
      <p:sp>
        <p:nvSpPr>
          <p:cNvPr id="7" name="Text 5"/>
          <p:cNvSpPr/>
          <p:nvPr/>
        </p:nvSpPr>
        <p:spPr>
          <a:xfrm>
            <a:off x="4796358" y="1483444"/>
            <a:ext cx="1892201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Метаданные подкаста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796358" y="1793156"/>
            <a:ext cx="3674492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Название, описание, категория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23577" y="2331690"/>
            <a:ext cx="3973637" cy="848246"/>
          </a:xfrm>
          <a:prstGeom prst="roundRect">
            <a:avLst>
              <a:gd name="adj" fmla="val 2646"/>
            </a:avLst>
          </a:prstGeom>
          <a:solidFill>
            <a:srgbClr val="444752"/>
          </a:solidFill>
          <a:ln/>
        </p:spPr>
      </p:sp>
      <p:sp>
        <p:nvSpPr>
          <p:cNvPr id="10" name="Text 8"/>
          <p:cNvSpPr/>
          <p:nvPr/>
        </p:nvSpPr>
        <p:spPr>
          <a:xfrm>
            <a:off x="673150" y="2481263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Медиаконтент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73150" y="2790974"/>
            <a:ext cx="3674492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Файл .mp3 (audio/mpeg), лимит </a:t>
            </a:r>
            <a:r>
              <a:rPr lang="en-US" sz="11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100 МБ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646786" y="2331690"/>
            <a:ext cx="3973637" cy="848246"/>
          </a:xfrm>
          <a:prstGeom prst="roundRect">
            <a:avLst>
              <a:gd name="adj" fmla="val 2646"/>
            </a:avLst>
          </a:prstGeom>
          <a:solidFill>
            <a:srgbClr val="444752"/>
          </a:solidFill>
          <a:ln/>
        </p:spPr>
      </p:sp>
      <p:sp>
        <p:nvSpPr>
          <p:cNvPr id="13" name="Text 11"/>
          <p:cNvSpPr/>
          <p:nvPr/>
        </p:nvSpPr>
        <p:spPr>
          <a:xfrm>
            <a:off x="4796358" y="2481263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Поисковый запрос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796358" y="2790974"/>
            <a:ext cx="3674492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Строка до 255 символов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23577" y="3348186"/>
            <a:ext cx="2599209" cy="1125736"/>
          </a:xfrm>
          <a:prstGeom prst="roundRect">
            <a:avLst>
              <a:gd name="adj" fmla="val 1994"/>
            </a:avLst>
          </a:prstGeom>
          <a:solidFill>
            <a:srgbClr val="252833"/>
          </a:solidFill>
          <a:ln w="19050">
            <a:solidFill>
              <a:srgbClr val="5D60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2200" y="3516809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JSON-ответы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92200" y="3826520"/>
            <a:ext cx="2261964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Списки подкастов и данные сессий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272358" y="3348186"/>
            <a:ext cx="2599209" cy="1125736"/>
          </a:xfrm>
          <a:prstGeom prst="roundRect">
            <a:avLst>
              <a:gd name="adj" fmla="val 1994"/>
            </a:avLst>
          </a:prstGeom>
          <a:solidFill>
            <a:srgbClr val="252833"/>
          </a:solidFill>
          <a:ln w="19050">
            <a:solidFill>
              <a:srgbClr val="5D60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40981" y="3516809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JWT-токен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440981" y="3826520"/>
            <a:ext cx="2261964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Ключ сессии — </a:t>
            </a:r>
            <a:r>
              <a:rPr lang="en-US" sz="11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HS256 Bearer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021139" y="3348186"/>
            <a:ext cx="2599283" cy="1125736"/>
          </a:xfrm>
          <a:prstGeom prst="roundRect">
            <a:avLst>
              <a:gd name="adj" fmla="val 1994"/>
            </a:avLst>
          </a:prstGeom>
          <a:solidFill>
            <a:srgbClr val="252833"/>
          </a:solidFill>
          <a:ln w="19050">
            <a:solidFill>
              <a:srgbClr val="5D60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89762" y="3516809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Аудиопоток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189762" y="3826520"/>
            <a:ext cx="2262039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Двоичный сигнал через эндпоинт </a:t>
            </a:r>
            <a:r>
              <a:rPr lang="en-US" sz="11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/static/</a:t>
            </a: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из папки </a:t>
            </a:r>
            <a:r>
              <a:rPr lang="en-US" sz="11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uploads/</a:t>
            </a:r>
            <a:endParaRPr lang="en-US" sz="1150" dirty="0"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42216F96-E0CE-2060-CA0E-447C4CD67A80}"/>
              </a:ext>
            </a:extLst>
          </p:cNvPr>
          <p:cNvSpPr/>
          <p:nvPr/>
        </p:nvSpPr>
        <p:spPr>
          <a:xfrm>
            <a:off x="7954108" y="4690913"/>
            <a:ext cx="1143000" cy="404446"/>
          </a:xfrm>
          <a:prstGeom prst="rect">
            <a:avLst/>
          </a:prstGeom>
          <a:solidFill>
            <a:srgbClr val="252833"/>
          </a:solidFill>
          <a:ln>
            <a:solidFill>
              <a:srgbClr val="2528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13072"/>
            <a:ext cx="3673673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База данных и требования к продукту</a:t>
            </a:r>
            <a:endParaRPr lang="en-US" sz="1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77" y="731118"/>
            <a:ext cx="3957191" cy="395719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7994" y="2157785"/>
            <a:ext cx="1406798" cy="1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Структура БД (MySQL)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4667994" y="2305124"/>
            <a:ext cx="395719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users</a:t>
            </a:r>
            <a:r>
              <a:rPr lang="en-US" sz="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учётные записи, роли, хэшированные пароли</a:t>
            </a:r>
            <a:endParaRPr lang="en-US" sz="55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podcasts</a:t>
            </a:r>
            <a:r>
              <a:rPr lang="en-US" sz="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названия, категории, описания, пути к .mp3 файлам</a:t>
            </a:r>
            <a:endParaRPr lang="en-US" sz="55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Ссылочная целостность, минимизация избыточности</a:t>
            </a:r>
            <a:endParaRPr lang="en-US" sz="550" dirty="0"/>
          </a:p>
        </p:txBody>
      </p:sp>
      <p:sp>
        <p:nvSpPr>
          <p:cNvPr id="6" name="Text 3"/>
          <p:cNvSpPr/>
          <p:nvPr/>
        </p:nvSpPr>
        <p:spPr>
          <a:xfrm>
            <a:off x="4667994" y="2637755"/>
            <a:ext cx="1827386" cy="1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Нефункциональные требования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4667994" y="2785095"/>
            <a:ext cx="3957191" cy="5008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Интерфейс в стиле </a:t>
            </a:r>
            <a:r>
              <a:rPr lang="en-US" sz="5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Dark Premium</a:t>
            </a:r>
            <a:endParaRPr lang="en-US" sz="55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Хэширование паролей — </a:t>
            </a:r>
            <a:r>
              <a:rPr lang="en-US" sz="5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bcrypt</a:t>
            </a:r>
            <a:endParaRPr lang="en-US" sz="55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Изолированная раздача статических файлов</a:t>
            </a:r>
            <a:endParaRPr lang="en-US" sz="55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Минимальная задержка при буферизации аудиопотока</a:t>
            </a:r>
            <a:endParaRPr lang="en-US" sz="55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Централизованное управление каталогом через защищённый API</a:t>
            </a:r>
            <a:endParaRPr lang="en-US" sz="550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F6C39C1-6301-5351-E431-CED3A92935DC}"/>
              </a:ext>
            </a:extLst>
          </p:cNvPr>
          <p:cNvSpPr/>
          <p:nvPr/>
        </p:nvSpPr>
        <p:spPr>
          <a:xfrm>
            <a:off x="7954108" y="4690913"/>
            <a:ext cx="1143000" cy="404446"/>
          </a:xfrm>
          <a:prstGeom prst="rect">
            <a:avLst/>
          </a:prstGeom>
          <a:solidFill>
            <a:srgbClr val="252833"/>
          </a:solidFill>
          <a:ln>
            <a:solidFill>
              <a:srgbClr val="2528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953319"/>
            <a:ext cx="5575027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Архитектура и развёртывание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523577" y="1617687"/>
            <a:ext cx="2599209" cy="1685999"/>
          </a:xfrm>
          <a:prstGeom prst="roundRect">
            <a:avLst>
              <a:gd name="adj" fmla="val 1331"/>
            </a:avLst>
          </a:prstGeom>
          <a:solidFill>
            <a:srgbClr val="444752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150" y="1767260"/>
            <a:ext cx="448791" cy="448791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6528" y="1890638"/>
            <a:ext cx="201960" cy="2019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73150" y="2365623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Database Server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673150" y="2675334"/>
            <a:ext cx="2300064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MySQL 8.0 — хранение реляционных данных</a:t>
            </a:r>
            <a:endParaRPr lang="en-US" sz="1150" dirty="0"/>
          </a:p>
        </p:txBody>
      </p:sp>
      <p:sp>
        <p:nvSpPr>
          <p:cNvPr id="8" name="Shape 4"/>
          <p:cNvSpPr/>
          <p:nvPr/>
        </p:nvSpPr>
        <p:spPr>
          <a:xfrm>
            <a:off x="3272358" y="1617687"/>
            <a:ext cx="2599209" cy="1685999"/>
          </a:xfrm>
          <a:prstGeom prst="roundRect">
            <a:avLst>
              <a:gd name="adj" fmla="val 1331"/>
            </a:avLst>
          </a:prstGeom>
          <a:solidFill>
            <a:srgbClr val="44475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1931" y="1767260"/>
            <a:ext cx="448791" cy="448791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45309" y="1890638"/>
            <a:ext cx="201960" cy="20196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421931" y="2365623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Application Server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3421931" y="2675334"/>
            <a:ext cx="2300064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Python, FastAPI, Uvicorn (ASGI), папка </a:t>
            </a:r>
            <a:r>
              <a:rPr lang="en-US" sz="11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uploads/</a:t>
            </a:r>
            <a:endParaRPr lang="en-US" sz="1150" dirty="0"/>
          </a:p>
        </p:txBody>
      </p:sp>
      <p:sp>
        <p:nvSpPr>
          <p:cNvPr id="13" name="Shape 7"/>
          <p:cNvSpPr/>
          <p:nvPr/>
        </p:nvSpPr>
        <p:spPr>
          <a:xfrm>
            <a:off x="6021139" y="1617687"/>
            <a:ext cx="2599283" cy="1685999"/>
          </a:xfrm>
          <a:prstGeom prst="roundRect">
            <a:avLst>
              <a:gd name="adj" fmla="val 1331"/>
            </a:avLst>
          </a:prstGeom>
          <a:solidFill>
            <a:srgbClr val="444752"/>
          </a:solidFill>
          <a:ln/>
        </p:spPr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0712" y="1767260"/>
            <a:ext cx="448791" cy="448791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94090" y="1890638"/>
            <a:ext cx="201960" cy="20196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6170712" y="2365623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Mobile Client</a:t>
            </a:r>
            <a:endParaRPr lang="en-US" sz="1350" dirty="0"/>
          </a:p>
        </p:txBody>
      </p:sp>
      <p:sp>
        <p:nvSpPr>
          <p:cNvPr id="17" name="Text 9"/>
          <p:cNvSpPr/>
          <p:nvPr/>
        </p:nvSpPr>
        <p:spPr>
          <a:xfrm>
            <a:off x="6170712" y="2675334"/>
            <a:ext cx="2300139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Flutter — приложение для Android/iOS</a:t>
            </a:r>
            <a:endParaRPr lang="en-US" sz="1150" dirty="0"/>
          </a:p>
        </p:txBody>
      </p:sp>
      <p:sp>
        <p:nvSpPr>
          <p:cNvPr id="18" name="Text 10"/>
          <p:cNvSpPr/>
          <p:nvPr/>
        </p:nvSpPr>
        <p:spPr>
          <a:xfrm>
            <a:off x="523577" y="3471937"/>
            <a:ext cx="8096845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Мобильный эмулятор обращается к хосту через </a:t>
            </a:r>
            <a:r>
              <a:rPr lang="en-US" sz="11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10.0.2.2:8000</a:t>
            </a: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 Проверка токенов через заголовок </a:t>
            </a:r>
            <a:r>
              <a:rPr lang="en-US" sz="11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Authorization: Bearer</a:t>
            </a: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 Маршрутизация трафика внутри СУБД средствами ORM </a:t>
            </a:r>
            <a:r>
              <a:rPr lang="en-US" sz="11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SQLAlchemy</a:t>
            </a: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 Локальное кэширование токена на мобильном устройстве.</a:t>
            </a:r>
            <a:endParaRPr lang="en-US" sz="1150" dirty="0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29D78B68-E303-92D5-41D7-EAD5E2535085}"/>
              </a:ext>
            </a:extLst>
          </p:cNvPr>
          <p:cNvSpPr/>
          <p:nvPr/>
        </p:nvSpPr>
        <p:spPr>
          <a:xfrm>
            <a:off x="7954108" y="4690913"/>
            <a:ext cx="1143000" cy="404446"/>
          </a:xfrm>
          <a:prstGeom prst="rect">
            <a:avLst/>
          </a:prstGeom>
          <a:solidFill>
            <a:srgbClr val="252833"/>
          </a:solidFill>
          <a:ln>
            <a:solidFill>
              <a:srgbClr val="2528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64939"/>
            <a:ext cx="8096845" cy="783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Серверная часть (FastAPI) и управление состоянием (Flutter)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523577" y="1545282"/>
            <a:ext cx="2024807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Модули FastAPI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577" y="1874713"/>
            <a:ext cx="1883643" cy="121406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8216" y="2022202"/>
            <a:ext cx="1531516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models.py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28216" y="2336750"/>
            <a:ext cx="1531516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Описание таблиц СУБД</a:t>
            </a:r>
            <a:endParaRPr lang="en-US" sz="10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25837" y="1874713"/>
            <a:ext cx="1883643" cy="121406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730475" y="2022202"/>
            <a:ext cx="1531516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schemas.py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2730475" y="2336750"/>
            <a:ext cx="1531516" cy="604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Pydantic-модели для валидации и фильтрации JSON-ответов</a:t>
            </a:r>
            <a:endParaRPr lang="en-US" sz="10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577" y="3207395"/>
            <a:ext cx="1883643" cy="120848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28216" y="3354884"/>
            <a:ext cx="1531516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auth.py / podcasts.py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728216" y="3865364"/>
            <a:ext cx="1531516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Изолированные роутеры</a:t>
            </a:r>
            <a:endParaRPr lang="en-US" sz="10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25837" y="3207395"/>
            <a:ext cx="1883643" cy="120848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2730475" y="3354884"/>
            <a:ext cx="1531516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database.py / config.py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2730475" y="3865364"/>
            <a:ext cx="1531516" cy="403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Подключение к MySQL, секреты JWT</a:t>
            </a:r>
            <a:endParaRPr lang="en-US" sz="1000" dirty="0"/>
          </a:p>
        </p:txBody>
      </p:sp>
      <p:sp>
        <p:nvSpPr>
          <p:cNvPr id="16" name="Text 10"/>
          <p:cNvSpPr/>
          <p:nvPr/>
        </p:nvSpPr>
        <p:spPr>
          <a:xfrm>
            <a:off x="4739283" y="1545282"/>
            <a:ext cx="2577629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State Management (provider)</a:t>
            </a:r>
            <a:endParaRPr lang="en-US" sz="12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39283" y="1874713"/>
            <a:ext cx="3885902" cy="811039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943921" y="2022202"/>
            <a:ext cx="1567607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AuthProvider</a:t>
            </a:r>
            <a:endParaRPr lang="en-US" sz="1200" dirty="0"/>
          </a:p>
        </p:txBody>
      </p:sp>
      <p:sp>
        <p:nvSpPr>
          <p:cNvPr id="19" name="Text 12"/>
          <p:cNvSpPr/>
          <p:nvPr/>
        </p:nvSpPr>
        <p:spPr>
          <a:xfrm>
            <a:off x="4943921" y="2336750"/>
            <a:ext cx="3533775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Токен, роли, статус входа</a:t>
            </a:r>
            <a:endParaRPr lang="en-US" sz="10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39283" y="2804368"/>
            <a:ext cx="3885902" cy="811039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4943921" y="2951857"/>
            <a:ext cx="1567607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PodcastProvider</a:t>
            </a:r>
            <a:endParaRPr lang="en-US" sz="1200" dirty="0"/>
          </a:p>
        </p:txBody>
      </p:sp>
      <p:sp>
        <p:nvSpPr>
          <p:cNvPr id="22" name="Text 14"/>
          <p:cNvSpPr/>
          <p:nvPr/>
        </p:nvSpPr>
        <p:spPr>
          <a:xfrm>
            <a:off x="4943921" y="3266405"/>
            <a:ext cx="3533775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Загрузка, поиск, фильтрация каталога</a:t>
            </a:r>
            <a:endParaRPr lang="en-US" sz="1000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39283" y="3734023"/>
            <a:ext cx="3885902" cy="811039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4943921" y="3881512"/>
            <a:ext cx="1567607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PlaybackProvider</a:t>
            </a:r>
            <a:endParaRPr lang="en-US" sz="1200" dirty="0"/>
          </a:p>
        </p:txBody>
      </p:sp>
      <p:sp>
        <p:nvSpPr>
          <p:cNvPr id="25" name="Text 16"/>
          <p:cNvSpPr/>
          <p:nvPr/>
        </p:nvSpPr>
        <p:spPr>
          <a:xfrm>
            <a:off x="4943921" y="4196060"/>
            <a:ext cx="3533775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Управление плеером audioplayers, асинхронные потоки</a:t>
            </a:r>
            <a:endParaRPr lang="en-US" sz="1000" dirty="0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A51B32F2-5D9D-F13C-0FD2-A1119D13FE17}"/>
              </a:ext>
            </a:extLst>
          </p:cNvPr>
          <p:cNvSpPr/>
          <p:nvPr/>
        </p:nvSpPr>
        <p:spPr>
          <a:xfrm>
            <a:off x="7954108" y="4690913"/>
            <a:ext cx="1143000" cy="404446"/>
          </a:xfrm>
          <a:prstGeom prst="rect">
            <a:avLst/>
          </a:prstGeom>
          <a:solidFill>
            <a:srgbClr val="252833"/>
          </a:solidFill>
          <a:ln>
            <a:solidFill>
              <a:srgbClr val="2528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42764"/>
            <a:ext cx="6154341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Экраны мобильного приложения</a:t>
            </a:r>
            <a:endParaRPr lang="en-US" sz="2750" dirty="0"/>
          </a:p>
        </p:txBody>
      </p:sp>
      <p:pic>
        <p:nvPicPr>
          <p:cNvPr id="3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2601" y="1181993"/>
            <a:ext cx="614574" cy="136572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577" y="2734717"/>
            <a:ext cx="1883941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Авторизация и регистрация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523577" y="3264396"/>
            <a:ext cx="1883941" cy="1436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LoginScreen.dart / RegisterScreen.dart — валидация email (regex), пароль ≥8 символов, проверка совпадения паролей</a:t>
            </a:r>
            <a:endParaRPr lang="en-US" sz="1150" dirty="0"/>
          </a:p>
        </p:txBody>
      </p:sp>
      <p:pic>
        <p:nvPicPr>
          <p:cNvPr id="6" name="Image 1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833545" y="1181993"/>
            <a:ext cx="614574" cy="136572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94521" y="2734717"/>
            <a:ext cx="1883941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Главный экран слушателя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2594521" y="3264396"/>
            <a:ext cx="1883941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MainScreen.dart — поиск (до 255 симв.), чипсы категорий (ChoiceChip), карточки подкастов</a:t>
            </a:r>
            <a:endParaRPr lang="en-US" sz="1150" dirty="0"/>
          </a:p>
        </p:txBody>
      </p:sp>
      <p:pic>
        <p:nvPicPr>
          <p:cNvPr id="9" name="Image 2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904488" y="1181993"/>
            <a:ext cx="614574" cy="136572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665464" y="2734717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Медиаплеер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4665464" y="3044428"/>
            <a:ext cx="1883941" cy="1196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PlayerBottomSheet.dart — свёрнуто (84px) / развёрнуто (275px), ползунок перемотки, индикаторы времени</a:t>
            </a:r>
            <a:endParaRPr lang="en-US" sz="1150" dirty="0"/>
          </a:p>
        </p:txBody>
      </p:sp>
      <p:pic>
        <p:nvPicPr>
          <p:cNvPr id="12" name="Image 3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975434" y="1181993"/>
            <a:ext cx="614641" cy="136587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736407" y="2734866"/>
            <a:ext cx="1884015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Экран администратора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6736407" y="3264545"/>
            <a:ext cx="1884015" cy="1196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AdminScreen.dart — каталог пользователей, публикация подкастов (file_picker, Multipart-запрос), удаление через AlertDialog</a:t>
            </a:r>
            <a:endParaRPr lang="en-US" sz="1150" dirty="0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BF9EAF62-7DC1-F398-DADA-EC2DA1E9087A}"/>
              </a:ext>
            </a:extLst>
          </p:cNvPr>
          <p:cNvSpPr/>
          <p:nvPr/>
        </p:nvSpPr>
        <p:spPr>
          <a:xfrm>
            <a:off x="7954108" y="4690913"/>
            <a:ext cx="1143000" cy="404446"/>
          </a:xfrm>
          <a:prstGeom prst="rect">
            <a:avLst/>
          </a:prstGeom>
          <a:solidFill>
            <a:srgbClr val="252833"/>
          </a:solidFill>
          <a:ln>
            <a:solidFill>
              <a:srgbClr val="2528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65237"/>
            <a:ext cx="2822377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Заключение</a:t>
            </a:r>
            <a:endParaRPr lang="en-US" sz="1850" dirty="0"/>
          </a:p>
        </p:txBody>
      </p:sp>
      <p:sp>
        <p:nvSpPr>
          <p:cNvPr id="3" name="Shape 1"/>
          <p:cNvSpPr/>
          <p:nvPr/>
        </p:nvSpPr>
        <p:spPr>
          <a:xfrm>
            <a:off x="523577" y="895871"/>
            <a:ext cx="402059" cy="603126"/>
          </a:xfrm>
          <a:prstGeom prst="roundRect">
            <a:avLst>
              <a:gd name="adj" fmla="val 360023"/>
            </a:avLst>
          </a:prstGeom>
          <a:solidFill>
            <a:srgbClr val="444752"/>
          </a:solidFill>
          <a:ln/>
        </p:spPr>
      </p:sp>
      <p:sp>
        <p:nvSpPr>
          <p:cNvPr id="4" name="Text 2"/>
          <p:cNvSpPr/>
          <p:nvPr/>
        </p:nvSpPr>
        <p:spPr>
          <a:xfrm>
            <a:off x="649188" y="1103188"/>
            <a:ext cx="150763" cy="1884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993130" y="996330"/>
            <a:ext cx="1182588" cy="147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Анализ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93130" y="1184597"/>
            <a:ext cx="7627293" cy="134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7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Изучена предметная область аудиовещания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23577" y="1566490"/>
            <a:ext cx="402059" cy="603126"/>
          </a:xfrm>
          <a:prstGeom prst="roundRect">
            <a:avLst>
              <a:gd name="adj" fmla="val 360023"/>
            </a:avLst>
          </a:prstGeom>
          <a:solidFill>
            <a:srgbClr val="444752"/>
          </a:solidFill>
          <a:ln/>
        </p:spPr>
      </p:sp>
      <p:sp>
        <p:nvSpPr>
          <p:cNvPr id="8" name="Text 6"/>
          <p:cNvSpPr/>
          <p:nvPr/>
        </p:nvSpPr>
        <p:spPr>
          <a:xfrm>
            <a:off x="649188" y="1773808"/>
            <a:ext cx="150763" cy="1884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93130" y="1666949"/>
            <a:ext cx="1182588" cy="147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Проектирование БД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93130" y="1855217"/>
            <a:ext cx="7627293" cy="134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7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Создана база данных в MySQL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523577" y="2237110"/>
            <a:ext cx="402059" cy="603126"/>
          </a:xfrm>
          <a:prstGeom prst="roundRect">
            <a:avLst>
              <a:gd name="adj" fmla="val 360023"/>
            </a:avLst>
          </a:prstGeom>
          <a:solidFill>
            <a:srgbClr val="444752"/>
          </a:solidFill>
          <a:ln/>
        </p:spPr>
      </p:sp>
      <p:sp>
        <p:nvSpPr>
          <p:cNvPr id="12" name="Text 10"/>
          <p:cNvSpPr/>
          <p:nvPr/>
        </p:nvSpPr>
        <p:spPr>
          <a:xfrm>
            <a:off x="649188" y="2444428"/>
            <a:ext cx="150763" cy="1884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93130" y="2337569"/>
            <a:ext cx="1182588" cy="147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Разработка API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93130" y="2525837"/>
            <a:ext cx="7627293" cy="134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7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Асинхронное REST API на FastAPI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523577" y="2907729"/>
            <a:ext cx="402059" cy="603126"/>
          </a:xfrm>
          <a:prstGeom prst="roundRect">
            <a:avLst>
              <a:gd name="adj" fmla="val 360023"/>
            </a:avLst>
          </a:prstGeom>
          <a:solidFill>
            <a:srgbClr val="444752"/>
          </a:solidFill>
          <a:ln/>
        </p:spPr>
      </p:sp>
      <p:sp>
        <p:nvSpPr>
          <p:cNvPr id="16" name="Text 14"/>
          <p:cNvSpPr/>
          <p:nvPr/>
        </p:nvSpPr>
        <p:spPr>
          <a:xfrm>
            <a:off x="649188" y="3115047"/>
            <a:ext cx="150763" cy="1884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4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93130" y="3008188"/>
            <a:ext cx="1182588" cy="147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Разработка UI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93130" y="3196456"/>
            <a:ext cx="7627293" cy="134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7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Кроссплатформенное приложение на Flutter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23577" y="3578349"/>
            <a:ext cx="402059" cy="603126"/>
          </a:xfrm>
          <a:prstGeom prst="roundRect">
            <a:avLst>
              <a:gd name="adj" fmla="val 360023"/>
            </a:avLst>
          </a:prstGeom>
          <a:solidFill>
            <a:srgbClr val="444752"/>
          </a:solidFill>
          <a:ln/>
        </p:spPr>
      </p:sp>
      <p:sp>
        <p:nvSpPr>
          <p:cNvPr id="20" name="Text 18"/>
          <p:cNvSpPr/>
          <p:nvPr/>
        </p:nvSpPr>
        <p:spPr>
          <a:xfrm>
            <a:off x="649188" y="3785667"/>
            <a:ext cx="150763" cy="1884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5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93130" y="3678808"/>
            <a:ext cx="1182588" cy="147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Тестирование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93130" y="3867076"/>
            <a:ext cx="7627293" cy="134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7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Проведено функциональное приёмочное тестирование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523577" y="4257452"/>
            <a:ext cx="14288" cy="420737"/>
          </a:xfrm>
          <a:prstGeom prst="roundRect">
            <a:avLst>
              <a:gd name="adj" fmla="val 59998"/>
            </a:avLst>
          </a:prstGeom>
          <a:solidFill>
            <a:srgbClr val="F98AC7"/>
          </a:solidFill>
          <a:ln/>
        </p:spPr>
      </p:sp>
      <p:sp>
        <p:nvSpPr>
          <p:cNvPr id="24" name="Text 22"/>
          <p:cNvSpPr/>
          <p:nvPr/>
        </p:nvSpPr>
        <p:spPr>
          <a:xfrm>
            <a:off x="674340" y="4333429"/>
            <a:ext cx="7946082" cy="268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7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Тема:</a:t>
            </a:r>
            <a:r>
              <a:rPr lang="en-US" sz="7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«Разработка мобильного приложения для прослушивания подкастов»</a:t>
            </a:r>
            <a:endParaRPr lang="en-US" sz="750" dirty="0"/>
          </a:p>
          <a:p>
            <a:pPr marL="0" indent="0" algn="l">
              <a:lnSpc>
                <a:spcPct val="111000"/>
              </a:lnSpc>
              <a:buNone/>
            </a:pPr>
            <a:r>
              <a:rPr lang="en-US" sz="7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Доклад окончен. Готов ответить на ваши вопросы.</a:t>
            </a:r>
            <a:endParaRPr lang="en-US" sz="750" dirty="0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22DB06B2-A1E5-E718-164D-E77CD68B16ED}"/>
              </a:ext>
            </a:extLst>
          </p:cNvPr>
          <p:cNvSpPr/>
          <p:nvPr/>
        </p:nvSpPr>
        <p:spPr>
          <a:xfrm>
            <a:off x="7954108" y="4690913"/>
            <a:ext cx="1143000" cy="404446"/>
          </a:xfrm>
          <a:prstGeom prst="rect">
            <a:avLst/>
          </a:prstGeom>
          <a:solidFill>
            <a:srgbClr val="252833"/>
          </a:solidFill>
          <a:ln>
            <a:solidFill>
              <a:srgbClr val="2528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562</Words>
  <Application>Microsoft Office PowerPoint</Application>
  <PresentationFormat>Экран (16:9)</PresentationFormat>
  <Paragraphs>116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Lora</vt:lpstr>
      <vt:lpstr>Source Sans 3</vt:lpstr>
      <vt:lpstr>Source Sans 3 Bold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Ильнур Файзельгаянов</dc:creator>
  <cp:lastModifiedBy>Ильнур Файзельгаянов</cp:lastModifiedBy>
  <cp:revision>3</cp:revision>
  <dcterms:created xsi:type="dcterms:W3CDTF">2026-06-25T20:21:01Z</dcterms:created>
  <dcterms:modified xsi:type="dcterms:W3CDTF">2026-06-26T03:20:26Z</dcterms:modified>
</cp:coreProperties>
</file>